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78" r:id="rId5"/>
    <p:sldId id="260" r:id="rId6"/>
    <p:sldId id="262" r:id="rId7"/>
    <p:sldId id="274" r:id="rId8"/>
    <p:sldId id="263" r:id="rId9"/>
    <p:sldId id="273" r:id="rId10"/>
    <p:sldId id="281" r:id="rId11"/>
    <p:sldId id="264" r:id="rId12"/>
    <p:sldId id="275" r:id="rId13"/>
    <p:sldId id="282" r:id="rId14"/>
    <p:sldId id="276" r:id="rId15"/>
    <p:sldId id="265" r:id="rId16"/>
    <p:sldId id="280" r:id="rId17"/>
    <p:sldId id="266" r:id="rId18"/>
    <p:sldId id="268" r:id="rId19"/>
    <p:sldId id="271" r:id="rId20"/>
    <p:sldId id="272" r:id="rId21"/>
  </p:sldIdLst>
  <p:sldSz cx="18288000" cy="10287000"/>
  <p:notesSz cx="6858000" cy="9144000"/>
  <p:embeddedFontLst>
    <p:embeddedFont>
      <p:font typeface="Calmius Sans High Bold" panose="020B0604020202020204" charset="0"/>
      <p:regular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Times New Roman Bold" panose="02020803070505020304" pitchFamily="18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B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09" autoAdjust="0"/>
  </p:normalViewPr>
  <p:slideViewPr>
    <p:cSldViewPr>
      <p:cViewPr varScale="1">
        <p:scale>
          <a:sx n="43" d="100"/>
          <a:sy n="43" d="100"/>
        </p:scale>
        <p:origin x="270" y="12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2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Ram" userId="650dad6269866312" providerId="LiveId" clId="{A4DFF7D1-1755-437F-8E75-1C1C227AA7CC}"/>
    <pc:docChg chg="modSld">
      <pc:chgData name="Mohan Ram" userId="650dad6269866312" providerId="LiveId" clId="{A4DFF7D1-1755-437F-8E75-1C1C227AA7CC}" dt="2026-09-01T04:54:13.765" v="7" actId="1076"/>
      <pc:docMkLst>
        <pc:docMk/>
      </pc:docMkLst>
      <pc:sldChg chg="modSp mod">
        <pc:chgData name="Mohan Ram" userId="650dad6269866312" providerId="LiveId" clId="{A4DFF7D1-1755-437F-8E75-1C1C227AA7CC}" dt="2026-09-01T04:54:13.765" v="7" actId="1076"/>
        <pc:sldMkLst>
          <pc:docMk/>
          <pc:sldMk cId="0" sldId="256"/>
        </pc:sldMkLst>
        <pc:spChg chg="mod">
          <ac:chgData name="Mohan Ram" userId="650dad6269866312" providerId="LiveId" clId="{A4DFF7D1-1755-437F-8E75-1C1C227AA7CC}" dt="2026-09-01T04:54:13.765" v="7" actId="1076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2AA49-D9A3-4FE7-A72E-0DC9A18B6877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BC733-B203-4D56-B98F-A1A47BDE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50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BC733-B203-4D56-B98F-A1A47BDE665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65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80392" y="-723900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6812312" y="5850575"/>
            <a:ext cx="4909444" cy="4365353"/>
          </a:xfrm>
          <a:custGeom>
            <a:avLst/>
            <a:gdLst/>
            <a:ahLst/>
            <a:cxnLst/>
            <a:rect l="l" t="t" r="r" b="b"/>
            <a:pathLst>
              <a:path w="6008887" h="5348662">
                <a:moveTo>
                  <a:pt x="0" y="0"/>
                </a:moveTo>
                <a:lnTo>
                  <a:pt x="6008888" y="0"/>
                </a:lnTo>
                <a:lnTo>
                  <a:pt x="6008888" y="5348662"/>
                </a:lnTo>
                <a:lnTo>
                  <a:pt x="0" y="5348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1686" y="8883578"/>
            <a:ext cx="1414028" cy="1403422"/>
          </a:xfrm>
          <a:custGeom>
            <a:avLst/>
            <a:gdLst/>
            <a:ahLst/>
            <a:cxnLst/>
            <a:rect l="l" t="t" r="r" b="b"/>
            <a:pathLst>
              <a:path w="1414028" h="1403422">
                <a:moveTo>
                  <a:pt x="0" y="0"/>
                </a:moveTo>
                <a:lnTo>
                  <a:pt x="1414028" y="0"/>
                </a:lnTo>
                <a:lnTo>
                  <a:pt x="1414028" y="1403422"/>
                </a:lnTo>
                <a:lnTo>
                  <a:pt x="0" y="1403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103035" y="8323183"/>
            <a:ext cx="2156265" cy="1998490"/>
          </a:xfrm>
          <a:custGeom>
            <a:avLst/>
            <a:gdLst/>
            <a:ahLst/>
            <a:cxnLst/>
            <a:rect l="l" t="t" r="r" b="b"/>
            <a:pathLst>
              <a:path w="2156265" h="1998490">
                <a:moveTo>
                  <a:pt x="0" y="0"/>
                </a:moveTo>
                <a:lnTo>
                  <a:pt x="2156265" y="0"/>
                </a:lnTo>
                <a:lnTo>
                  <a:pt x="2156265" y="1998490"/>
                </a:lnTo>
                <a:lnTo>
                  <a:pt x="0" y="1998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1329281" y="2354580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59300" y="2354580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0"/>
            <a:ext cx="18288000" cy="2112584"/>
          </a:xfrm>
          <a:custGeom>
            <a:avLst/>
            <a:gdLst/>
            <a:ahLst/>
            <a:cxnLst/>
            <a:rect l="l" t="t" r="r" b="b"/>
            <a:pathLst>
              <a:path w="18288000" h="2354580">
                <a:moveTo>
                  <a:pt x="0" y="0"/>
                </a:moveTo>
                <a:lnTo>
                  <a:pt x="18288000" y="0"/>
                </a:lnTo>
                <a:lnTo>
                  <a:pt x="18288000" y="2354580"/>
                </a:lnTo>
                <a:lnTo>
                  <a:pt x="0" y="2354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17439" y="2556509"/>
            <a:ext cx="17220234" cy="2021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41"/>
              </a:lnSpc>
            </a:pPr>
            <a:r>
              <a:rPr lang="en-US" sz="834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AI-ASSISTED PROCESSOR PERFORMANCE OPTIMIZATION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57666" y="5941171"/>
            <a:ext cx="5219485" cy="238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en-US" sz="3092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</a:t>
            </a:r>
          </a:p>
          <a:p>
            <a:pPr algn="l">
              <a:lnSpc>
                <a:spcPts val="3615"/>
              </a:lnSpc>
            </a:pPr>
            <a:r>
              <a:rPr lang="en-US" sz="2582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192521117_R.MOHANRAM</a:t>
            </a:r>
          </a:p>
          <a:p>
            <a:pPr algn="l">
              <a:lnSpc>
                <a:spcPts val="3615"/>
              </a:lnSpc>
            </a:pPr>
            <a:r>
              <a:rPr lang="en-US" sz="2582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192521351_P. LOGESH</a:t>
            </a:r>
          </a:p>
          <a:p>
            <a:pPr algn="l">
              <a:lnSpc>
                <a:spcPts val="3615"/>
              </a:lnSpc>
            </a:pPr>
            <a:r>
              <a:rPr lang="en-US" sz="2582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192521386_S. MOHAMED JILAN</a:t>
            </a:r>
          </a:p>
          <a:p>
            <a:pPr algn="l">
              <a:lnSpc>
                <a:spcPts val="3615"/>
              </a:lnSpc>
            </a:pPr>
            <a:endParaRPr lang="en-US" sz="2582" b="1" dirty="0">
              <a:solidFill>
                <a:srgbClr val="34322B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6917" y="6465269"/>
            <a:ext cx="5219485" cy="1324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9"/>
              </a:lnSpc>
            </a:pPr>
            <a:r>
              <a:rPr lang="en-US" sz="3992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</a:t>
            </a:r>
          </a:p>
          <a:p>
            <a:pPr algn="l">
              <a:lnSpc>
                <a:spcPts val="4875"/>
              </a:lnSpc>
            </a:pPr>
            <a:r>
              <a:rPr lang="en-US" sz="3482" b="1" dirty="0" err="1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Dr.Vijaya</a:t>
            </a:r>
            <a:r>
              <a:rPr lang="en-US" sz="3482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Bhaskar 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64023" y="4552045"/>
            <a:ext cx="12959953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400" b="1" dirty="0">
                <a:solidFill>
                  <a:srgbClr val="34322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"/>
                <a:sym typeface="Times New Roman Bold"/>
              </a:rPr>
              <a:t>CSA1205 - Computer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76400" y="-1181100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30000" y="3492331"/>
            <a:ext cx="6256987" cy="3860969"/>
            <a:chOff x="0" y="0"/>
            <a:chExt cx="969371" cy="598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9371" cy="598165"/>
            </a:xfrm>
            <a:custGeom>
              <a:avLst/>
              <a:gdLst/>
              <a:ahLst/>
              <a:cxnLst/>
              <a:rect l="l" t="t" r="r" b="b"/>
              <a:pathLst>
                <a:path w="969371" h="598165">
                  <a:moveTo>
                    <a:pt x="0" y="0"/>
                  </a:moveTo>
                  <a:lnTo>
                    <a:pt x="969371" y="0"/>
                  </a:lnTo>
                  <a:lnTo>
                    <a:pt x="969371" y="598165"/>
                  </a:lnTo>
                  <a:lnTo>
                    <a:pt x="0" y="598165"/>
                  </a:lnTo>
                  <a:close/>
                </a:path>
              </a:pathLst>
            </a:custGeom>
            <a:blipFill>
              <a:blip r:embed="rId3"/>
              <a:stretch>
                <a:fillRect l="-270" r="-270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747911" y="974107"/>
            <a:ext cx="12536157" cy="82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22"/>
              </a:lnSpc>
            </a:pPr>
            <a:r>
              <a:rPr lang="en-US" sz="7298" b="1" dirty="0">
                <a:solidFill>
                  <a:srgbClr val="34322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437" y="2103102"/>
            <a:ext cx="10622194" cy="689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Modern computers continuously handle varying workloads.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CPU, memory, disk, and network resources change dynamically.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Poor resource utilization can lead to: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Performance degradation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Unnecessary energy consumption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High memory usage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System slowdowns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This project uses Machine Learning + Real-Time Monitoring + AI Decision Making to </a:t>
            </a:r>
            <a:r>
              <a:rPr lang="en-IN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analyze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 processor workload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The system provides optimization recommendations based on the predicted workload.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619241" y="9258300"/>
            <a:ext cx="2357981" cy="2357981"/>
            <a:chOff x="0" y="0"/>
            <a:chExt cx="673100" cy="673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35205" y="-942566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717963" y="656051"/>
            <a:ext cx="14286824" cy="82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44"/>
              </a:lnSpc>
            </a:pPr>
            <a:r>
              <a:rPr lang="en-US" sz="7323" b="1" dirty="0">
                <a:solidFill>
                  <a:srgbClr val="34322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"/>
                <a:sym typeface="Times New Roman Bold"/>
              </a:rPr>
              <a:t> PROBLEM STATEMENT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9038" y="1848183"/>
            <a:ext cx="17090870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Modern computer systems experience varying CPU, memory, disk, and network workloads.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Traditional processor monitoring mainly reports system statistics but does not intelligently classify workload conditions or provide adaptive recommendations.</a:t>
            </a:r>
          </a:p>
          <a:p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Problem identified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CPU workload changes dynamically.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High resource utilization can affect performance.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Low workloads may waste energy through unnecessary background activity.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Manual monitoring does not provide intelligent workload classification.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A machine-learning-based decision system is required for real-time optimization.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224685" y="2448801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328943" y="669193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0ADA111-46A2-1FF2-5A3F-BC8F90C6D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64" y="6731394"/>
            <a:ext cx="17685272" cy="34148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47B4E6-D466-2A4E-EE7C-227E0CF8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2ABDB9-2B44-995B-7466-F3294C4D5786}"/>
              </a:ext>
            </a:extLst>
          </p:cNvPr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FFC530A-F328-39B1-9C40-75FBB16325DE}"/>
              </a:ext>
            </a:extLst>
          </p:cNvPr>
          <p:cNvSpPr txBox="1"/>
          <p:nvPr/>
        </p:nvSpPr>
        <p:spPr>
          <a:xfrm>
            <a:off x="3657600" y="277910"/>
            <a:ext cx="11270900" cy="92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22"/>
              </a:lnSpc>
            </a:pPr>
            <a:r>
              <a:rPr lang="en-US" sz="8093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86B40AD-EB76-811C-53F5-519A3D9A8BCF}"/>
              </a:ext>
            </a:extLst>
          </p:cNvPr>
          <p:cNvGrpSpPr/>
          <p:nvPr/>
        </p:nvGrpSpPr>
        <p:grpSpPr>
          <a:xfrm>
            <a:off x="17109009" y="616734"/>
            <a:ext cx="2357981" cy="2357981"/>
            <a:chOff x="0" y="0"/>
            <a:chExt cx="673100" cy="6731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F00B269-49DF-66E8-8356-3F8B17818D45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CF66EB7-F0B7-86D1-E84B-956BB0AB035E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AE036C2-B0BA-2D3E-0022-09C7E75E67DD}"/>
              </a:ext>
            </a:extLst>
          </p:cNvPr>
          <p:cNvGrpSpPr/>
          <p:nvPr/>
        </p:nvGrpSpPr>
        <p:grpSpPr>
          <a:xfrm>
            <a:off x="879768" y="-1178991"/>
            <a:ext cx="2357981" cy="2357981"/>
            <a:chOff x="0" y="0"/>
            <a:chExt cx="673100" cy="6731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76F7A4F-8E15-94B4-40B8-05D24891895A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4F22025-8488-8D8D-A551-2B7532DF7D10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1573BD4-4642-9BF9-824B-7091A76D6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262351"/>
              </p:ext>
            </p:extLst>
          </p:nvPr>
        </p:nvGraphicFramePr>
        <p:xfrm>
          <a:off x="114300" y="1318031"/>
          <a:ext cx="18059399" cy="8854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375">
                  <a:extLst>
                    <a:ext uri="{9D8B030D-6E8A-4147-A177-3AD203B41FA5}">
                      <a16:colId xmlns:a16="http://schemas.microsoft.com/office/drawing/2014/main" val="4205908814"/>
                    </a:ext>
                  </a:extLst>
                </a:gridCol>
                <a:gridCol w="2035253">
                  <a:extLst>
                    <a:ext uri="{9D8B030D-6E8A-4147-A177-3AD203B41FA5}">
                      <a16:colId xmlns:a16="http://schemas.microsoft.com/office/drawing/2014/main" val="2799323111"/>
                    </a:ext>
                  </a:extLst>
                </a:gridCol>
                <a:gridCol w="3618228">
                  <a:extLst>
                    <a:ext uri="{9D8B030D-6E8A-4147-A177-3AD203B41FA5}">
                      <a16:colId xmlns:a16="http://schemas.microsoft.com/office/drawing/2014/main" val="3236767383"/>
                    </a:ext>
                  </a:extLst>
                </a:gridCol>
                <a:gridCol w="6030380">
                  <a:extLst>
                    <a:ext uri="{9D8B030D-6E8A-4147-A177-3AD203B41FA5}">
                      <a16:colId xmlns:a16="http://schemas.microsoft.com/office/drawing/2014/main" val="4212911303"/>
                    </a:ext>
                  </a:extLst>
                </a:gridCol>
                <a:gridCol w="4598163">
                  <a:extLst>
                    <a:ext uri="{9D8B030D-6E8A-4147-A177-3AD203B41FA5}">
                      <a16:colId xmlns:a16="http://schemas.microsoft.com/office/drawing/2014/main" val="1834455156"/>
                    </a:ext>
                  </a:extLst>
                </a:gridCol>
              </a:tblGrid>
              <a:tr h="3893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S.No</a:t>
                      </a: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Year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Paper / Research Area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Key Contribution</a:t>
                      </a:r>
                    </a:p>
                  </a:txBody>
                  <a:tcPr marL="31214" marR="31214" marT="15607" marB="15607" anchor="ctr"/>
                </a:tc>
                <a:extLst>
                  <a:ext uri="{0D108BD9-81ED-4DB2-BD59-A6C34878D82A}">
                    <a16:rowId xmlns:a16="http://schemas.microsoft.com/office/drawing/2014/main" val="3476398089"/>
                  </a:ext>
                </a:extLst>
              </a:tr>
              <a:tr h="1465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2018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David Brooks et al.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Dynamic Voltage and Frequency Scaling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Explored processor frequency and voltage management for reducing power consumption.</a:t>
                      </a:r>
                    </a:p>
                  </a:txBody>
                  <a:tcPr marL="31214" marR="31214" marT="15607" marB="15607" anchor="ctr"/>
                </a:tc>
                <a:extLst>
                  <a:ext uri="{0D108BD9-81ED-4DB2-BD59-A6C34878D82A}">
                    <a16:rowId xmlns:a16="http://schemas.microsoft.com/office/drawing/2014/main" val="659003623"/>
                  </a:ext>
                </a:extLst>
              </a:tr>
              <a:tr h="1465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2019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Y. Wang et al.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Machine Learning for CPU Performance Optimization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Used ML techniques to predict processor performance under different workloads.</a:t>
                      </a:r>
                    </a:p>
                  </a:txBody>
                  <a:tcPr marL="31214" marR="31214" marT="15607" marB="15607" anchor="ctr"/>
                </a:tc>
                <a:extLst>
                  <a:ext uri="{0D108BD9-81ED-4DB2-BD59-A6C34878D82A}">
                    <a16:rowId xmlns:a16="http://schemas.microsoft.com/office/drawing/2014/main" val="3412452291"/>
                  </a:ext>
                </a:extLst>
              </a:tr>
              <a:tr h="11069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2020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J. Chen et al.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AI-Based Resource Management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Applied intelligent resource allocation to improve computing efficiency.</a:t>
                      </a:r>
                    </a:p>
                  </a:txBody>
                  <a:tcPr marL="31214" marR="31214" marT="15607" marB="15607" anchor="ctr"/>
                </a:tc>
                <a:extLst>
                  <a:ext uri="{0D108BD9-81ED-4DB2-BD59-A6C34878D82A}">
                    <a16:rowId xmlns:a16="http://schemas.microsoft.com/office/drawing/2014/main" val="4218853346"/>
                  </a:ext>
                </a:extLst>
              </a:tr>
              <a:tr h="1465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2021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A. Singh et al.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ML-Based Workload Prediction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Predicted workload conditions to support dynamic system optimization.</a:t>
                      </a:r>
                    </a:p>
                  </a:txBody>
                  <a:tcPr marL="31214" marR="31214" marT="15607" marB="15607" anchor="ctr"/>
                </a:tc>
                <a:extLst>
                  <a:ext uri="{0D108BD9-81ED-4DB2-BD59-A6C34878D82A}">
                    <a16:rowId xmlns:a16="http://schemas.microsoft.com/office/drawing/2014/main" val="4147123991"/>
                  </a:ext>
                </a:extLst>
              </a:tr>
              <a:tr h="1465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S. Mittal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Machine Learning for Energy-Efficient Computing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Investigated ML-based techniques for improving performance while reducing energy consumption.</a:t>
                      </a:r>
                    </a:p>
                  </a:txBody>
                  <a:tcPr marL="31214" marR="31214" marT="15607" marB="15607" anchor="ctr"/>
                </a:tc>
                <a:extLst>
                  <a:ext uri="{0D108BD9-81ED-4DB2-BD59-A6C34878D82A}">
                    <a16:rowId xmlns:a16="http://schemas.microsoft.com/office/drawing/2014/main" val="2682597589"/>
                  </a:ext>
                </a:extLst>
              </a:tr>
              <a:tr h="1465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2023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R. Kumar et al.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AI-Assisted Processor Optimization</a:t>
                      </a:r>
                    </a:p>
                  </a:txBody>
                  <a:tcPr marL="31214" marR="31214" marT="15607" marB="156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Demonstrated AI-driven workload analysis and adaptive processor management.</a:t>
                      </a:r>
                    </a:p>
                  </a:txBody>
                  <a:tcPr marL="31214" marR="31214" marT="15607" marB="15607" anchor="ctr"/>
                </a:tc>
                <a:extLst>
                  <a:ext uri="{0D108BD9-81ED-4DB2-BD59-A6C34878D82A}">
                    <a16:rowId xmlns:a16="http://schemas.microsoft.com/office/drawing/2014/main" val="3789013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593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12127" y="-787524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6078200" y="8572501"/>
            <a:ext cx="1742438" cy="1531114"/>
          </a:xfrm>
          <a:custGeom>
            <a:avLst/>
            <a:gdLst/>
            <a:ahLst/>
            <a:cxnLst/>
            <a:rect l="l" t="t" r="r" b="b"/>
            <a:pathLst>
              <a:path w="4006822" h="4094881">
                <a:moveTo>
                  <a:pt x="0" y="0"/>
                </a:moveTo>
                <a:lnTo>
                  <a:pt x="4006823" y="0"/>
                </a:lnTo>
                <a:lnTo>
                  <a:pt x="4006823" y="4094882"/>
                </a:lnTo>
                <a:lnTo>
                  <a:pt x="0" y="4094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3" b="-10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07252" y="650342"/>
            <a:ext cx="12536157" cy="846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85"/>
              </a:lnSpc>
            </a:pPr>
            <a:r>
              <a:rPr lang="en-US" sz="7370" b="1">
                <a:solidFill>
                  <a:srgbClr val="34322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Times New Roman Bold"/>
              </a:rPr>
              <a:t>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314541" y="1963034"/>
            <a:ext cx="6177868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Collect 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real-time processor performance data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Build a real-world processor monitoring dataset.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Classify workload into: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LOW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MODERATE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HIGH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Train a 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Random Forest machine-learning model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Develop an 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AI decision engine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Generate workload-based optimization recommendations.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Perform baseline and optimized processor experiments.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Compare processor performance before and after AI-assisted monitoring.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Develop a real-time web dashboard.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310892" y="-1329281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9748" y="9258300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8539294" y="7569750"/>
            <a:ext cx="2036519" cy="1854582"/>
          </a:xfrm>
          <a:custGeom>
            <a:avLst/>
            <a:gdLst/>
            <a:ahLst/>
            <a:cxnLst/>
            <a:rect l="l" t="t" r="r" b="b"/>
            <a:pathLst>
              <a:path w="2710320" h="2734433">
                <a:moveTo>
                  <a:pt x="0" y="0"/>
                </a:moveTo>
                <a:lnTo>
                  <a:pt x="2710319" y="0"/>
                </a:lnTo>
                <a:lnTo>
                  <a:pt x="2710319" y="2734433"/>
                </a:lnTo>
                <a:lnTo>
                  <a:pt x="0" y="273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640057" y="-1144753"/>
            <a:ext cx="2676144" cy="2478253"/>
          </a:xfrm>
          <a:custGeom>
            <a:avLst/>
            <a:gdLst/>
            <a:ahLst/>
            <a:cxnLst/>
            <a:rect l="l" t="t" r="r" b="b"/>
            <a:pathLst>
              <a:path w="2912039" h="2765214">
                <a:moveTo>
                  <a:pt x="0" y="0"/>
                </a:moveTo>
                <a:lnTo>
                  <a:pt x="2912039" y="0"/>
                </a:lnTo>
                <a:lnTo>
                  <a:pt x="2912039" y="2765213"/>
                </a:lnTo>
                <a:lnTo>
                  <a:pt x="0" y="27652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1C0107-147A-FF3B-D794-C4EC6892C49A}"/>
              </a:ext>
            </a:extLst>
          </p:cNvPr>
          <p:cNvSpPr txBox="1"/>
          <p:nvPr/>
        </p:nvSpPr>
        <p:spPr>
          <a:xfrm>
            <a:off x="12706115" y="2845557"/>
            <a:ext cx="4682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1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41F90D3-2B4A-9E73-4663-6D27FF92D288}"/>
              </a:ext>
            </a:extLst>
          </p:cNvPr>
          <p:cNvSpPr/>
          <p:nvPr/>
        </p:nvSpPr>
        <p:spPr>
          <a:xfrm>
            <a:off x="7135368" y="3092378"/>
            <a:ext cx="2560320" cy="1920240"/>
          </a:xfrm>
          <a:prstGeom prst="rect">
            <a:avLst/>
          </a:prstGeom>
          <a:solidFill>
            <a:srgbClr val="1B222C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316A2A3-7613-E1F1-588A-77D437330C23}"/>
              </a:ext>
            </a:extLst>
          </p:cNvPr>
          <p:cNvSpPr txBox="1"/>
          <p:nvPr/>
        </p:nvSpPr>
        <p:spPr>
          <a:xfrm>
            <a:off x="7272528" y="3229538"/>
            <a:ext cx="2286000" cy="1579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718096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STAGE 01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7FAFC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</a:t>
            </a:r>
          </a:p>
          <a:p>
            <a:pPr algn="ctr">
              <a:defRPr sz="950">
                <a:solidFill>
                  <a:srgbClr val="A0AEC0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Maps raw processor state vectors and initializes background hardware diagnostic tracking loops.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E9B92D6-6A9B-3B62-37D4-DEB572B19A50}"/>
              </a:ext>
            </a:extLst>
          </p:cNvPr>
          <p:cNvSpPr/>
          <p:nvPr/>
        </p:nvSpPr>
        <p:spPr>
          <a:xfrm>
            <a:off x="9887712" y="3092378"/>
            <a:ext cx="2560320" cy="1920240"/>
          </a:xfrm>
          <a:prstGeom prst="rect">
            <a:avLst/>
          </a:prstGeom>
          <a:solidFill>
            <a:srgbClr val="1B222C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03FC3D6-927C-E57E-533A-DDA976EB9E9E}"/>
              </a:ext>
            </a:extLst>
          </p:cNvPr>
          <p:cNvSpPr txBox="1"/>
          <p:nvPr/>
        </p:nvSpPr>
        <p:spPr>
          <a:xfrm>
            <a:off x="10024872" y="3229538"/>
            <a:ext cx="2286000" cy="1579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718096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STAGE 02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7FAFC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algn="ctr">
              <a:defRPr sz="950">
                <a:solidFill>
                  <a:srgbClr val="A0AEC0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Captures real-time micro-architectural counters, branch histories, and execution profiles.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989CDBB-6281-FAE4-22EC-C380C4FAA6D7}"/>
              </a:ext>
            </a:extLst>
          </p:cNvPr>
          <p:cNvSpPr/>
          <p:nvPr/>
        </p:nvSpPr>
        <p:spPr>
          <a:xfrm>
            <a:off x="12640056" y="3092378"/>
            <a:ext cx="2560320" cy="1920240"/>
          </a:xfrm>
          <a:prstGeom prst="rect">
            <a:avLst/>
          </a:prstGeom>
          <a:solidFill>
            <a:srgbClr val="1B222C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A24584-7A11-36EF-4961-3F0F1F7433F9}"/>
              </a:ext>
            </a:extLst>
          </p:cNvPr>
          <p:cNvSpPr txBox="1"/>
          <p:nvPr/>
        </p:nvSpPr>
        <p:spPr>
          <a:xfrm>
            <a:off x="12777216" y="3194961"/>
            <a:ext cx="2286000" cy="18261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718096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STAGE 03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7FAFC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DATASET</a:t>
            </a:r>
          </a:p>
          <a:p>
            <a:pPr algn="ctr">
              <a:defRPr sz="950">
                <a:solidFill>
                  <a:srgbClr val="A0AEC0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Aggregates, clean-filters, and structures raw execution telemetry into dense multidimensional tensors.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4C652C3-0B72-5818-76C9-9DDFC03D8DDE}"/>
              </a:ext>
            </a:extLst>
          </p:cNvPr>
          <p:cNvSpPr/>
          <p:nvPr/>
        </p:nvSpPr>
        <p:spPr>
          <a:xfrm>
            <a:off x="15392400" y="3092378"/>
            <a:ext cx="2560320" cy="1920240"/>
          </a:xfrm>
          <a:prstGeom prst="rect">
            <a:avLst/>
          </a:prstGeom>
          <a:solidFill>
            <a:srgbClr val="1B222C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CBC942-F221-A92E-A060-BAB487040A90}"/>
              </a:ext>
            </a:extLst>
          </p:cNvPr>
          <p:cNvSpPr txBox="1"/>
          <p:nvPr/>
        </p:nvSpPr>
        <p:spPr>
          <a:xfrm>
            <a:off x="15529560" y="3229538"/>
            <a:ext cx="2286000" cy="18261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718096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STAGE 04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7FAFC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ML MODEL</a:t>
            </a:r>
          </a:p>
          <a:p>
            <a:pPr algn="ctr">
              <a:defRPr sz="950">
                <a:solidFill>
                  <a:srgbClr val="A0AEC0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Evaluates complex predictive execution paths using localized ultra-lightweight regression matrices.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2B1947D-BA23-9253-5155-4DB21E6A2652}"/>
              </a:ext>
            </a:extLst>
          </p:cNvPr>
          <p:cNvSpPr/>
          <p:nvPr/>
        </p:nvSpPr>
        <p:spPr>
          <a:xfrm>
            <a:off x="7135368" y="5286938"/>
            <a:ext cx="2560320" cy="1920240"/>
          </a:xfrm>
          <a:prstGeom prst="rect">
            <a:avLst/>
          </a:prstGeom>
          <a:solidFill>
            <a:srgbClr val="1B222C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B68F9FB-E9C4-5E60-5F9F-E0ED55433FC0}"/>
              </a:ext>
            </a:extLst>
          </p:cNvPr>
          <p:cNvSpPr txBox="1"/>
          <p:nvPr/>
        </p:nvSpPr>
        <p:spPr>
          <a:xfrm>
            <a:off x="7272528" y="5424098"/>
            <a:ext cx="2286000" cy="1579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718096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STAGE 05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7FAFC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AI ENGINE</a:t>
            </a:r>
          </a:p>
          <a:p>
            <a:pPr algn="ctr">
              <a:defRPr sz="950">
                <a:solidFill>
                  <a:srgbClr val="A0AEC0"/>
                </a:solidFill>
                <a:latin typeface="Arial"/>
              </a:defRPr>
            </a:pPr>
            <a:r>
              <a: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Identifies architectural resource hazards, critical hot-spots, and scheduling stalls dynamically.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1FAD2D1-CF88-0EB3-DC01-B6053490D153}"/>
              </a:ext>
            </a:extLst>
          </p:cNvPr>
          <p:cNvSpPr/>
          <p:nvPr/>
        </p:nvSpPr>
        <p:spPr>
          <a:xfrm>
            <a:off x="9887712" y="5286938"/>
            <a:ext cx="2560320" cy="1920240"/>
          </a:xfrm>
          <a:prstGeom prst="rect">
            <a:avLst/>
          </a:prstGeom>
          <a:solidFill>
            <a:srgbClr val="1B222C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BBBA52C-FC8D-084D-7FCB-615421CECD64}"/>
              </a:ext>
            </a:extLst>
          </p:cNvPr>
          <p:cNvSpPr txBox="1"/>
          <p:nvPr/>
        </p:nvSpPr>
        <p:spPr>
          <a:xfrm>
            <a:off x="10024872" y="5369931"/>
            <a:ext cx="2286000" cy="18261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718096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STAGE 06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7FAFC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OPTIMIZATION</a:t>
            </a:r>
          </a:p>
          <a:p>
            <a:pPr algn="ctr">
              <a:defRPr sz="950">
                <a:solidFill>
                  <a:srgbClr val="A0AEC0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Dispatches predictive runtime microcode parameter overrides and dynamic voltage scaling paths.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C997A10-1FC9-4368-EF51-5B8AA3A274B3}"/>
              </a:ext>
            </a:extLst>
          </p:cNvPr>
          <p:cNvSpPr/>
          <p:nvPr/>
        </p:nvSpPr>
        <p:spPr>
          <a:xfrm>
            <a:off x="12640056" y="5286938"/>
            <a:ext cx="2560320" cy="1920240"/>
          </a:xfrm>
          <a:prstGeom prst="rect">
            <a:avLst/>
          </a:prstGeom>
          <a:solidFill>
            <a:srgbClr val="1B222C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B4986EA-2EE5-A2BF-BB93-C6BD47F40078}"/>
              </a:ext>
            </a:extLst>
          </p:cNvPr>
          <p:cNvSpPr txBox="1"/>
          <p:nvPr/>
        </p:nvSpPr>
        <p:spPr>
          <a:xfrm>
            <a:off x="12807696" y="5333987"/>
            <a:ext cx="2286000" cy="18261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718096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STAGE 07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7FAFC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DASHBOARD</a:t>
            </a:r>
          </a:p>
          <a:p>
            <a:pPr algn="ctr">
              <a:defRPr sz="950">
                <a:solidFill>
                  <a:srgbClr val="A0AEC0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Streams real-time metrics, instruction-per-clock metrics, and safe thermal thresholds visually.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34EA615-7C9D-DBD8-9BBE-38A7DD969B37}"/>
              </a:ext>
            </a:extLst>
          </p:cNvPr>
          <p:cNvSpPr/>
          <p:nvPr/>
        </p:nvSpPr>
        <p:spPr>
          <a:xfrm>
            <a:off x="15392400" y="5286938"/>
            <a:ext cx="2560320" cy="1920240"/>
          </a:xfrm>
          <a:prstGeom prst="rect">
            <a:avLst/>
          </a:prstGeom>
          <a:solidFill>
            <a:srgbClr val="1B222C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17FC152-B022-5896-2EE4-1543DE5655C9}"/>
              </a:ext>
            </a:extLst>
          </p:cNvPr>
          <p:cNvSpPr txBox="1"/>
          <p:nvPr/>
        </p:nvSpPr>
        <p:spPr>
          <a:xfrm>
            <a:off x="15529560" y="5379709"/>
            <a:ext cx="2286000" cy="18261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718096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STAGE 08</a:t>
            </a:r>
          </a:p>
          <a:p>
            <a:pPr algn="ctr"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7FAFC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PERFORMANCE</a:t>
            </a:r>
          </a:p>
          <a:p>
            <a:pPr algn="ctr">
              <a:defRPr sz="950">
                <a:solidFill>
                  <a:srgbClr val="A0AEC0"/>
                </a:solidFill>
                <a:latin typeface="Arial"/>
              </a:defRPr>
            </a:pPr>
            <a:r>
              <a:rPr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Audits execution acceleration deltas against hard baselines to continuously verify clock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17743" y="-800100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917743" y="817143"/>
            <a:ext cx="11205282" cy="560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306"/>
              </a:lnSpc>
            </a:pPr>
            <a:r>
              <a:rPr lang="en-US" sz="4893" b="1" dirty="0">
                <a:solidFill>
                  <a:srgbClr val="34322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"/>
                <a:sym typeface="Times New Roman Bold"/>
              </a:rPr>
              <a:t>MODULE 1: Data Collection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4590" y="1703666"/>
            <a:ext cx="7367650" cy="775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The first module collects real processor and system information using Python and </a:t>
            </a:r>
            <a:r>
              <a:rPr lang="en-IN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psutil</a:t>
            </a: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 .</a:t>
            </a:r>
          </a:p>
          <a:p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Parameters Collected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CPU Usage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Memory Usage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CPU Frequency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Minimum CPU Frequency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Maximum CPU Frequency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Physical Cores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Logical Cores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Process Count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Disk Usage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Network Bytes Sent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Network Bytes Received </a:t>
            </a:r>
          </a:p>
          <a:p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Technology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Python + </a:t>
            </a:r>
            <a:r>
              <a:rPr lang="en-IN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psutil</a:t>
            </a: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 + Pandas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Screenshot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540089" y="7512950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5133E65-1741-DF7E-E634-994704D68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49"/>
          <a:stretch>
            <a:fillRect/>
          </a:stretch>
        </p:blipFill>
        <p:spPr>
          <a:xfrm>
            <a:off x="5261517" y="3179826"/>
            <a:ext cx="12856945" cy="54777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092D4-797E-5FE9-728C-9F6A5F86B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6A7C1A-7CB8-B5AD-9122-D1D3C1FFDEB4}"/>
              </a:ext>
            </a:extLst>
          </p:cNvPr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07841CA-EDCB-C1CC-E90A-C3C7915B837B}"/>
              </a:ext>
            </a:extLst>
          </p:cNvPr>
          <p:cNvSpPr txBox="1"/>
          <p:nvPr/>
        </p:nvSpPr>
        <p:spPr>
          <a:xfrm>
            <a:off x="1905000" y="571500"/>
            <a:ext cx="11205282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sz="4000" b="1" dirty="0">
                <a:solidFill>
                  <a:srgbClr val="34322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"/>
                <a:sym typeface="Times New Roman Bold"/>
              </a:rPr>
              <a:t>MODULE 1: </a:t>
            </a:r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Baseline Performance Measurement</a:t>
            </a:r>
            <a:endParaRPr lang="en-US" sz="4000" b="1" dirty="0">
              <a:solidFill>
                <a:srgbClr val="34322B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 Bold"/>
              <a:sym typeface="Times New Roman Bold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C6C007BF-EB94-7914-9155-0B9A329EAF22}"/>
              </a:ext>
            </a:extLst>
          </p:cNvPr>
          <p:cNvGrpSpPr/>
          <p:nvPr/>
        </p:nvGrpSpPr>
        <p:grpSpPr>
          <a:xfrm>
            <a:off x="17540089" y="7512950"/>
            <a:ext cx="2357981" cy="2357981"/>
            <a:chOff x="0" y="0"/>
            <a:chExt cx="673100" cy="6731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8B8CBE6-831C-3BBC-AE86-7A81D3958025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7ABDF3B-D70F-115B-4B71-D30DCC156FF3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8A58331-B57B-D698-81F8-C6AE8909DEE4}"/>
              </a:ext>
            </a:extLst>
          </p:cNvPr>
          <p:cNvSpPr txBox="1"/>
          <p:nvPr/>
        </p:nvSpPr>
        <p:spPr>
          <a:xfrm>
            <a:off x="990600" y="3924300"/>
            <a:ext cx="5455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A baseline experiment was performed before AI-assisted optimization.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B510F7-E308-3E06-A2FD-B565F4237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838" y="1524954"/>
            <a:ext cx="9734333" cy="77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08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764494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9600" y="906939"/>
            <a:ext cx="8760921" cy="560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306"/>
              </a:lnSpc>
            </a:pPr>
            <a:r>
              <a:rPr lang="en-US" sz="4000" b="1" dirty="0">
                <a:solidFill>
                  <a:srgbClr val="34322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 Bold"/>
                <a:sym typeface="Times New Roman Bold"/>
              </a:rPr>
              <a:t> MODULE 2: Dataset Preparation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540089" y="7772189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2DF1556-FCB3-8636-21A1-9431BE479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383502"/>
              </p:ext>
            </p:extLst>
          </p:nvPr>
        </p:nvGraphicFramePr>
        <p:xfrm>
          <a:off x="1140921" y="5745358"/>
          <a:ext cx="822960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26685676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082909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Workload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Samples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994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337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33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MODERATE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9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78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62111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51EC042-A036-D553-B9C3-A851DE6A2512}"/>
              </a:ext>
            </a:extLst>
          </p:cNvPr>
          <p:cNvSpPr txBox="1"/>
          <p:nvPr/>
        </p:nvSpPr>
        <p:spPr>
          <a:xfrm>
            <a:off x="912313" y="1572115"/>
            <a:ext cx="8227521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Machine Learning Dataset Preparation</a:t>
            </a:r>
          </a:p>
          <a:p>
            <a:pPr>
              <a:buNone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Real system measurements were combined to create the ML dataset.</a:t>
            </a:r>
          </a:p>
          <a:p>
            <a:pPr>
              <a:buNone/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Dataset</a:t>
            </a:r>
          </a:p>
          <a:p>
            <a:pPr>
              <a:buNone/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Total Samples: 420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Baseline samples: </a:t>
            </a: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300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Controlled workload samples: </a:t>
            </a: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120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buNone/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Workload Distribution</a:t>
            </a:r>
          </a:p>
          <a:p>
            <a:pPr>
              <a:buNone/>
            </a:pP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CPU Usage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LOW → Average </a:t>
            </a: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2.14%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MODERATE → Average </a:t>
            </a: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20.83%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HIGH → Average </a:t>
            </a: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52.76%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869E0F-7906-CF9F-DB36-BF75C0BF1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129" y="1712694"/>
            <a:ext cx="8500283" cy="69048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33D8D-A107-8F02-7A17-43065DF2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1256FB-6148-E4AE-22B7-2A1C56D9C497}"/>
              </a:ext>
            </a:extLst>
          </p:cNvPr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5500B4D-EBE0-FE9C-12F9-20C5DE36CF34}"/>
              </a:ext>
            </a:extLst>
          </p:cNvPr>
          <p:cNvSpPr txBox="1"/>
          <p:nvPr/>
        </p:nvSpPr>
        <p:spPr>
          <a:xfrm>
            <a:off x="228600" y="647700"/>
            <a:ext cx="1149081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IN" sz="4800" b="1" dirty="0">
                <a:latin typeface="Cambria" panose="02040503050406030204" pitchFamily="18" charset="0"/>
                <a:ea typeface="Cambria" panose="02040503050406030204" pitchFamily="18" charset="0"/>
              </a:rPr>
              <a:t>MODULE 2: RANDOM FOREST MODEL</a:t>
            </a:r>
            <a:endParaRPr lang="en-US" sz="4800" b="1" dirty="0">
              <a:solidFill>
                <a:srgbClr val="34322B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 Bold"/>
              <a:sym typeface="Times New Roman Bold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A0DD9B45-DA8A-5022-BAD4-4C324AD7679D}"/>
              </a:ext>
            </a:extLst>
          </p:cNvPr>
          <p:cNvGrpSpPr/>
          <p:nvPr/>
        </p:nvGrpSpPr>
        <p:grpSpPr>
          <a:xfrm>
            <a:off x="17540089" y="7512950"/>
            <a:ext cx="2357981" cy="2357981"/>
            <a:chOff x="0" y="0"/>
            <a:chExt cx="673100" cy="6731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79D397C-FB04-68CC-DC45-2F077C3135A7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A313F24-E26B-935E-861A-EF0A349AECCC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 b="1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1063A43-0936-B1DA-1409-5D02F9D8CAB7}"/>
              </a:ext>
            </a:extLst>
          </p:cNvPr>
          <p:cNvSpPr txBox="1"/>
          <p:nvPr/>
        </p:nvSpPr>
        <p:spPr>
          <a:xfrm>
            <a:off x="1219200" y="2095500"/>
            <a:ext cx="73914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Random Forest Workload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A Random Forest classifier was trained using real processor measurements.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ML Features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CPU Usage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Memory Usage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CPU Frequency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CPU Min Frequency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CPU Max Frequency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Physical Cores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Logical Cores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Process Count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Disk Usage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Network Bytes Sent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Network Bytes Received 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Dataset Split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Training: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336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Testing: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84 samples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Model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Accuracy = 98.81%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17EF0-D540-7598-6A4D-FF7D942A2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973" y="1433634"/>
            <a:ext cx="5738208" cy="820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27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ACFC5-CF87-8963-D6B1-2A324CF0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D43110-1DA4-A0D5-6841-70A58BB4B8BF}"/>
              </a:ext>
            </a:extLst>
          </p:cNvPr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solidFill>
            <a:srgbClr val="D9BFA3"/>
          </a:solid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0E64422E-EB8D-15C1-C2B4-D083801CC4A2}"/>
              </a:ext>
            </a:extLst>
          </p:cNvPr>
          <p:cNvGrpSpPr/>
          <p:nvPr/>
        </p:nvGrpSpPr>
        <p:grpSpPr>
          <a:xfrm>
            <a:off x="17540089" y="7512950"/>
            <a:ext cx="2357981" cy="2357981"/>
            <a:chOff x="0" y="0"/>
            <a:chExt cx="673100" cy="6731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3167C96-F7EA-0AAE-6A76-1362F69A7E15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FED56C6-6B2C-D5E6-8AA2-4D218723CC95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 b="1"/>
            </a:p>
          </p:txBody>
        </p:sp>
      </p:grpSp>
      <p:sp>
        <p:nvSpPr>
          <p:cNvPr id="6" name="Freeform 2">
            <a:extLst>
              <a:ext uri="{FF2B5EF4-FFF2-40B4-BE49-F238E27FC236}">
                <a16:creationId xmlns:a16="http://schemas.microsoft.com/office/drawing/2014/main" id="{B3B5440C-3346-268B-4CAD-F1328E697F79}"/>
              </a:ext>
            </a:extLst>
          </p:cNvPr>
          <p:cNvSpPr/>
          <p:nvPr/>
        </p:nvSpPr>
        <p:spPr>
          <a:xfrm>
            <a:off x="-2819400" y="-1384498"/>
            <a:ext cx="23545800" cy="13334999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580FAD-71AE-F2AF-953F-9E73A62CE4DC}"/>
              </a:ext>
            </a:extLst>
          </p:cNvPr>
          <p:cNvSpPr txBox="1"/>
          <p:nvPr/>
        </p:nvSpPr>
        <p:spPr>
          <a:xfrm>
            <a:off x="644594" y="213109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MODULE 2: FEATURE IMPORTANCE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C97EA-C192-AC78-8FA9-18AC7C0B8224}"/>
              </a:ext>
            </a:extLst>
          </p:cNvPr>
          <p:cNvSpPr txBox="1"/>
          <p:nvPr/>
        </p:nvSpPr>
        <p:spPr>
          <a:xfrm>
            <a:off x="470102" y="1020622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Feature Importance Analysis</a:t>
            </a: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The Random Forest model identifies which system parameters contribute most to workload classification.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825319-5199-CA75-CC2D-FCED1F8BBD09}"/>
              </a:ext>
            </a:extLst>
          </p:cNvPr>
          <p:cNvSpPr txBox="1"/>
          <p:nvPr/>
        </p:nvSpPr>
        <p:spPr>
          <a:xfrm>
            <a:off x="575315" y="9154923"/>
            <a:ext cx="1120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Other features had negligible importance in the trained model.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Key Finding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CPU Usage is the most influential feature for workload classification.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7C9F39-92A8-3C35-B95D-EB8E4F1BB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508" y="5326887"/>
            <a:ext cx="6736768" cy="4813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9EA260-169B-8D75-F7CF-DB098D09D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94" y="2449699"/>
            <a:ext cx="6324599" cy="65872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CBFE8A3-3ABA-6A5E-E875-53B26441E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807" y="25836"/>
            <a:ext cx="6324599" cy="526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74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4917" y="369328"/>
            <a:ext cx="11205282" cy="560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306"/>
              </a:lnSpc>
            </a:pPr>
            <a:r>
              <a:rPr lang="en-US" sz="4893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3: AI Decision Engine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917" y="1333500"/>
            <a:ext cx="8460464" cy="8079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64201" lvl="1" indent="-457200">
              <a:lnSpc>
                <a:spcPts val="3014"/>
              </a:lnSpc>
              <a:buFont typeface="Arial" panose="020B0604020202020204" pitchFamily="34" charset="0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trained Random Forest model is integrated into a real-time AI engine.</a:t>
            </a:r>
          </a:p>
          <a:p>
            <a:pPr marL="307001" lvl="1">
              <a:lnSpc>
                <a:spcPts val="3014"/>
              </a:lnSpc>
            </a:pPr>
            <a:endParaRPr lang="en-US" sz="2843" dirty="0">
              <a:solidFill>
                <a:srgbClr val="34322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7001" lvl="1">
              <a:lnSpc>
                <a:spcPts val="3014"/>
              </a:lnSpc>
            </a:pPr>
            <a:r>
              <a:rPr lang="en-US" sz="2843" b="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Processing Flow:</a:t>
            </a:r>
          </a:p>
          <a:p>
            <a:pPr marL="307001" lvl="1">
              <a:lnSpc>
                <a:spcPts val="3014"/>
              </a:lnSpc>
            </a:pPr>
            <a:endParaRPr lang="en-US" sz="2843" b="1" dirty="0">
              <a:solidFill>
                <a:srgbClr val="34322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7001" lvl="1" algn="ctr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System Metrics</a:t>
            </a:r>
          </a:p>
          <a:p>
            <a:pPr marL="307001" lvl="1" algn="ctr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</a:p>
          <a:p>
            <a:pPr marL="307001" lvl="1" algn="ctr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Prediction	</a:t>
            </a:r>
          </a:p>
          <a:p>
            <a:pPr marL="307001" lvl="1" algn="ctr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</a:p>
          <a:p>
            <a:pPr marL="307001" lvl="1" algn="ctr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Workload Classification</a:t>
            </a:r>
          </a:p>
          <a:p>
            <a:pPr marL="307001" lvl="1" algn="ctr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</a:p>
          <a:p>
            <a:pPr marL="307001" lvl="1" algn="ctr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Calculation</a:t>
            </a:r>
          </a:p>
          <a:p>
            <a:pPr marL="307001" lvl="1" algn="ctr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</a:p>
          <a:p>
            <a:pPr marL="307001" lvl="1" algn="ctr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Decision</a:t>
            </a:r>
          </a:p>
          <a:p>
            <a:pPr marL="307001" lvl="1" algn="ctr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↓</a:t>
            </a:r>
          </a:p>
          <a:p>
            <a:pPr marL="307001" lvl="1" algn="ctr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Recommendation</a:t>
            </a:r>
          </a:p>
          <a:p>
            <a:pPr marL="307001" lvl="1">
              <a:lnSpc>
                <a:spcPts val="3014"/>
              </a:lnSpc>
            </a:pPr>
            <a:endParaRPr lang="en-US" sz="2843" dirty="0">
              <a:solidFill>
                <a:srgbClr val="34322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7001" lvl="1">
              <a:lnSpc>
                <a:spcPts val="3014"/>
              </a:lnSpc>
            </a:pPr>
            <a:r>
              <a:rPr lang="en-US" sz="2843" b="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Workload Classes</a:t>
            </a:r>
          </a:p>
          <a:p>
            <a:pPr marL="307001" lvl="1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🟢 LOW → Power Efficient</a:t>
            </a:r>
          </a:p>
          <a:p>
            <a:pPr marL="307001" lvl="1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🟡 MODERATE → Balanced</a:t>
            </a:r>
          </a:p>
          <a:p>
            <a:pPr marL="307001" lvl="1">
              <a:lnSpc>
                <a:spcPts val="3014"/>
              </a:lnSpc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🔴 HIGH→ Performance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540089" y="7512950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A815D1F-4009-A6F0-F913-E2943181B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301" y="1474208"/>
            <a:ext cx="8844788" cy="42202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DD2E52-D04C-8856-722B-24F2FDE36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301" y="5940849"/>
            <a:ext cx="8844788" cy="34717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F5A73-641B-28F3-5A64-5937F3CB6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8E9578-E958-7D83-86CC-B521ACAA9CAA}"/>
              </a:ext>
            </a:extLst>
          </p:cNvPr>
          <p:cNvSpPr/>
          <p:nvPr/>
        </p:nvSpPr>
        <p:spPr>
          <a:xfrm>
            <a:off x="-2061343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4937775-CA82-F664-DE0B-3834036DCA17}"/>
              </a:ext>
            </a:extLst>
          </p:cNvPr>
          <p:cNvSpPr txBox="1"/>
          <p:nvPr/>
        </p:nvSpPr>
        <p:spPr>
          <a:xfrm>
            <a:off x="226902" y="901706"/>
            <a:ext cx="12801600" cy="560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4306"/>
              </a:lnSpc>
            </a:pPr>
            <a:r>
              <a:rPr lang="en-US" sz="4893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3:   AI-Assisted Optimization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12AED3B-5FFD-42C1-88E5-232ED72E7B6C}"/>
              </a:ext>
            </a:extLst>
          </p:cNvPr>
          <p:cNvSpPr txBox="1"/>
          <p:nvPr/>
        </p:nvSpPr>
        <p:spPr>
          <a:xfrm>
            <a:off x="1066800" y="2396235"/>
            <a:ext cx="163068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64201" lvl="1" indent="-457200">
              <a:lnSpc>
                <a:spcPts val="3014"/>
              </a:lnSpc>
              <a:buFont typeface="Arial" panose="020B0604020202020204" pitchFamily="34" charset="0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optimization engine converts ML workload predictions into processor-management recommendations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E0DF5C1C-A308-6083-B810-13BDD1CBA2EA}"/>
              </a:ext>
            </a:extLst>
          </p:cNvPr>
          <p:cNvGrpSpPr/>
          <p:nvPr/>
        </p:nvGrpSpPr>
        <p:grpSpPr>
          <a:xfrm>
            <a:off x="17540089" y="7512950"/>
            <a:ext cx="2357981" cy="2357981"/>
            <a:chOff x="0" y="0"/>
            <a:chExt cx="673100" cy="6731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020BFEC-0A57-E183-EE4A-1B9EC40635BD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43E3338-0B7B-E12B-AC21-7D7E39B0259C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F1B13024-8EC3-C228-9E8F-0F6CA7D50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833" y="3572759"/>
            <a:ext cx="8549915" cy="4192746"/>
          </a:xfrm>
          <a:prstGeom prst="rect">
            <a:avLst/>
          </a:prstGeom>
        </p:spPr>
      </p:pic>
      <p:sp>
        <p:nvSpPr>
          <p:cNvPr id="25" name="TextBox 7">
            <a:extLst>
              <a:ext uri="{FF2B5EF4-FFF2-40B4-BE49-F238E27FC236}">
                <a16:creationId xmlns:a16="http://schemas.microsoft.com/office/drawing/2014/main" id="{39D2D54D-A137-6459-9D52-77AAF37E121C}"/>
              </a:ext>
            </a:extLst>
          </p:cNvPr>
          <p:cNvSpPr txBox="1"/>
          <p:nvPr/>
        </p:nvSpPr>
        <p:spPr>
          <a:xfrm>
            <a:off x="990600" y="6248984"/>
            <a:ext cx="8835804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7001" lvl="1">
              <a:lnSpc>
                <a:spcPts val="3014"/>
              </a:lnSpc>
            </a:pPr>
            <a:r>
              <a:rPr lang="en-US" sz="2843" b="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Conditions</a:t>
            </a:r>
          </a:p>
          <a:p>
            <a:pPr marL="764201" lvl="1" indent="-457200">
              <a:lnSpc>
                <a:spcPts val="3014"/>
              </a:lnSpc>
              <a:buFont typeface="Arial" panose="020B0604020202020204" pitchFamily="34" charset="0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≥ 80% → HIGH CPU ALERT</a:t>
            </a:r>
          </a:p>
          <a:p>
            <a:pPr marL="764201" lvl="1" indent="-457200">
              <a:lnSpc>
                <a:spcPts val="3014"/>
              </a:lnSpc>
              <a:buFont typeface="Arial" panose="020B0604020202020204" pitchFamily="34" charset="0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≥ 90% → MEMORY ALERT</a:t>
            </a:r>
          </a:p>
          <a:p>
            <a:pPr marL="764201" lvl="1" indent="-457200">
              <a:lnSpc>
                <a:spcPts val="3014"/>
              </a:lnSpc>
              <a:buFont typeface="Arial" panose="020B0604020202020204" pitchFamily="34" charset="0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Resource-intensive processes are monitored</a:t>
            </a:r>
          </a:p>
          <a:p>
            <a:pPr marL="764201" lvl="1" indent="-457200">
              <a:lnSpc>
                <a:spcPts val="3014"/>
              </a:lnSpc>
              <a:buFont typeface="Arial" panose="020B0604020202020204" pitchFamily="34" charset="0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performs </a:t>
            </a:r>
            <a:r>
              <a:rPr lang="en-US" sz="2843" b="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software-level monitoring and recommendations</a:t>
            </a: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changing CPU voltage, BIOS settings, or hardware clock parameters.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7B8AB6-C10E-59B3-1E17-E6A8E1EA1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388040"/>
              </p:ext>
            </p:extLst>
          </p:nvPr>
        </p:nvGraphicFramePr>
        <p:xfrm>
          <a:off x="541788" y="3882512"/>
          <a:ext cx="8578149" cy="1919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9383">
                  <a:extLst>
                    <a:ext uri="{9D8B030D-6E8A-4147-A177-3AD203B41FA5}">
                      <a16:colId xmlns:a16="http://schemas.microsoft.com/office/drawing/2014/main" val="1472802550"/>
                    </a:ext>
                  </a:extLst>
                </a:gridCol>
                <a:gridCol w="2859383">
                  <a:extLst>
                    <a:ext uri="{9D8B030D-6E8A-4147-A177-3AD203B41FA5}">
                      <a16:colId xmlns:a16="http://schemas.microsoft.com/office/drawing/2014/main" val="3532840945"/>
                    </a:ext>
                  </a:extLst>
                </a:gridCol>
                <a:gridCol w="2859383">
                  <a:extLst>
                    <a:ext uri="{9D8B030D-6E8A-4147-A177-3AD203B41FA5}">
                      <a16:colId xmlns:a16="http://schemas.microsoft.com/office/drawing/2014/main" val="123976249"/>
                    </a:ext>
                  </a:extLst>
                </a:gridCol>
              </a:tblGrid>
              <a:tr h="5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Workload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AI Mode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Action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323508"/>
                  </a:ext>
                </a:extLst>
              </a:tr>
              <a:tr h="47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POWER_EFFICIENT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MONITOR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404637"/>
                  </a:ext>
                </a:extLst>
              </a:tr>
              <a:tr h="47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MODERATE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BALANCED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BALANCE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363530"/>
                  </a:ext>
                </a:extLst>
              </a:tr>
              <a:tr h="47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PERFORMANCE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OPTIMIZE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073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145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708C-1EFC-3C75-F8D4-2B03016CE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B89EA185-940F-1659-DF75-5AA78A039A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solidFill>
            <a:srgbClr val="D9BFA3"/>
          </a:solidFill>
        </p:spPr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E0E753EB-A5E1-E3BA-00EB-92665D4B83EC}"/>
              </a:ext>
            </a:extLst>
          </p:cNvPr>
          <p:cNvSpPr/>
          <p:nvPr/>
        </p:nvSpPr>
        <p:spPr>
          <a:xfrm>
            <a:off x="-875139" y="-149917"/>
            <a:ext cx="20038278" cy="10586833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4E71E6-1E72-E4EB-5CF7-7FD5DEFB3206}"/>
              </a:ext>
            </a:extLst>
          </p:cNvPr>
          <p:cNvSpPr txBox="1"/>
          <p:nvPr/>
        </p:nvSpPr>
        <p:spPr>
          <a:xfrm>
            <a:off x="1676400" y="1181100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MODULE 3: OPTIMIZED TEST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3A8882-F03F-81A6-D454-9F219EC37590}"/>
              </a:ext>
            </a:extLst>
          </p:cNvPr>
          <p:cNvSpPr txBox="1"/>
          <p:nvPr/>
        </p:nvSpPr>
        <p:spPr>
          <a:xfrm>
            <a:off x="1143000" y="23241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AI-Assisted Optimized Performance Test</a:t>
            </a: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The optimized experiment collected 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60 real-time samples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while the ML model classified the workload.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A12660F-74D2-32DB-24AF-D4716678D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72531"/>
              </p:ext>
            </p:extLst>
          </p:nvPr>
        </p:nvGraphicFramePr>
        <p:xfrm>
          <a:off x="2171700" y="4055886"/>
          <a:ext cx="43434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4911841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99641233"/>
                    </a:ext>
                  </a:extLst>
                </a:gridCol>
              </a:tblGrid>
              <a:tr h="3333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Parameter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AI-Assisted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756612"/>
                  </a:ext>
                </a:extLst>
              </a:tr>
              <a:tr h="3333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Average CPU Usage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2.59%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06374"/>
                  </a:ext>
                </a:extLst>
              </a:tr>
              <a:tr h="3333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Maximum CPU Usage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8.10%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613902"/>
                  </a:ext>
                </a:extLst>
              </a:tr>
              <a:tr h="3333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Minimum CPU Usage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0.50%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708622"/>
                  </a:ext>
                </a:extLst>
              </a:tr>
              <a:tr h="3333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Average Memory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71.09%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58239"/>
                  </a:ext>
                </a:extLst>
              </a:tr>
              <a:tr h="3333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Average Frequency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2401 MHz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58619"/>
                  </a:ext>
                </a:extLst>
              </a:tr>
              <a:tr h="3333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Average Processes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291.12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8983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D32188B-5265-8B00-981F-D39AE617BA0C}"/>
              </a:ext>
            </a:extLst>
          </p:cNvPr>
          <p:cNvSpPr txBox="1"/>
          <p:nvPr/>
        </p:nvSpPr>
        <p:spPr>
          <a:xfrm>
            <a:off x="1295399" y="7444007"/>
            <a:ext cx="75686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ML Output</a:t>
            </a: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The system continuously predicts: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LOW / MODERATE / HIGH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and generates the corresponding recommendation.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FE844DD-358A-1FC1-0FB6-AB54A7704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984514"/>
            <a:ext cx="7568652" cy="870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12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19CF8-A5B8-8AA3-71B9-3A3B51384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9020B62-6CCF-028A-62F0-B71657E8D152}"/>
              </a:ext>
            </a:extLst>
          </p:cNvPr>
          <p:cNvSpPr/>
          <p:nvPr/>
        </p:nvSpPr>
        <p:spPr>
          <a:xfrm>
            <a:off x="-304800" y="-846409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01BDA9D-D4C2-6398-6707-804DFE2D0135}"/>
              </a:ext>
            </a:extLst>
          </p:cNvPr>
          <p:cNvSpPr txBox="1"/>
          <p:nvPr/>
        </p:nvSpPr>
        <p:spPr>
          <a:xfrm>
            <a:off x="8236138" y="1158399"/>
            <a:ext cx="9899462" cy="1112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4306"/>
              </a:lnSpc>
            </a:pPr>
            <a:r>
              <a:rPr lang="en-US" sz="4893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Before vs After AI-Assisted Monitoring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2CBDE96-A680-C7E7-ADE9-48B866787C74}"/>
              </a:ext>
            </a:extLst>
          </p:cNvPr>
          <p:cNvSpPr txBox="1"/>
          <p:nvPr/>
        </p:nvSpPr>
        <p:spPr>
          <a:xfrm>
            <a:off x="9372600" y="6016502"/>
            <a:ext cx="7367650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7001" lvl="1">
              <a:lnSpc>
                <a:spcPts val="3014"/>
              </a:lnSpc>
            </a:pPr>
            <a:r>
              <a:rPr lang="en-US" sz="2843" b="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Observation</a:t>
            </a:r>
          </a:p>
          <a:p>
            <a:pPr marL="614003" lvl="1" indent="-307002">
              <a:lnSpc>
                <a:spcPts val="3014"/>
              </a:lnSpc>
              <a:buFont typeface="Arial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AI-assisted monitoring resulted in:</a:t>
            </a:r>
          </a:p>
          <a:p>
            <a:pPr marL="614003" lvl="1" indent="-307002">
              <a:lnSpc>
                <a:spcPts val="3014"/>
              </a:lnSpc>
              <a:buFont typeface="Arial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Lower average CPU utilization.</a:t>
            </a:r>
          </a:p>
          <a:p>
            <a:pPr marL="614003" lvl="1" indent="-307002">
              <a:lnSpc>
                <a:spcPts val="3014"/>
              </a:lnSpc>
              <a:buFont typeface="Arial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maximum CPU utilization.</a:t>
            </a:r>
          </a:p>
          <a:p>
            <a:pPr marL="614003" lvl="1" indent="-307002">
              <a:lnSpc>
                <a:spcPts val="3014"/>
              </a:lnSpc>
              <a:buFont typeface="Arial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average memory utilization.</a:t>
            </a:r>
          </a:p>
          <a:p>
            <a:pPr marL="614003" lvl="1" indent="-307002">
              <a:lnSpc>
                <a:spcPts val="3014"/>
              </a:lnSpc>
              <a:buFont typeface="Arial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CPU frequency.</a:t>
            </a:r>
          </a:p>
          <a:p>
            <a:pPr marL="614003" lvl="1" indent="-307002">
              <a:lnSpc>
                <a:spcPts val="3014"/>
              </a:lnSpc>
              <a:buFont typeface="Arial"/>
              <a:buChar char="•"/>
            </a:pPr>
            <a:r>
              <a:rPr lang="en-US" sz="2843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significant reduction in system responsiveness indicated by process count..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85D67AA-5E77-30A0-684C-323CAB6796DF}"/>
              </a:ext>
            </a:extLst>
          </p:cNvPr>
          <p:cNvGrpSpPr/>
          <p:nvPr/>
        </p:nvGrpSpPr>
        <p:grpSpPr>
          <a:xfrm>
            <a:off x="17616289" y="7528349"/>
            <a:ext cx="2357981" cy="2357981"/>
            <a:chOff x="0" y="0"/>
            <a:chExt cx="673100" cy="6731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3C2B2F0-CFDE-50ED-3E91-4D17C50A2C8B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DBF2D52-9C55-5FF5-93F0-FB5B52ED28D2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CA03290-681A-737C-0223-2455EE9E2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722" y="1158399"/>
            <a:ext cx="5800725" cy="83248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81BFD9-1ED5-D5EF-C716-DDFD637B2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197319"/>
              </p:ext>
            </p:extLst>
          </p:nvPr>
        </p:nvGraphicFramePr>
        <p:xfrm>
          <a:off x="8522969" y="2983029"/>
          <a:ext cx="8229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727227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281297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5036704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276826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Metric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Baseline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AI-Assisted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Change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86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Average CPU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2.64%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2.59%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−1.83%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953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Maximum CPU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8.60%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8.10%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−5.81%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314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Average Memory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73.35%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71.09%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−3.09%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4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Average Frequency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2401 MHz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2401 MHz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00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Processes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290.38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291.12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+0.25%</a:t>
                      </a:r>
                    </a:p>
                  </a:txBody>
                  <a:tcPr anchor="ctr">
                    <a:solidFill>
                      <a:srgbClr val="D9B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454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774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9489577" y="-1023733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6533176" y="120158"/>
            <a:ext cx="1754824" cy="1616272"/>
          </a:xfrm>
          <a:custGeom>
            <a:avLst/>
            <a:gdLst/>
            <a:ahLst/>
            <a:cxnLst/>
            <a:rect l="l" t="t" r="r" b="b"/>
            <a:pathLst>
              <a:path w="4754189" h="4711741">
                <a:moveTo>
                  <a:pt x="0" y="0"/>
                </a:moveTo>
                <a:lnTo>
                  <a:pt x="4754188" y="0"/>
                </a:lnTo>
                <a:lnTo>
                  <a:pt x="4754188" y="4711741"/>
                </a:lnTo>
                <a:lnTo>
                  <a:pt x="0" y="4711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34524" y="571500"/>
            <a:ext cx="19687076" cy="897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858"/>
              </a:lnSpc>
            </a:pPr>
            <a:r>
              <a:rPr lang="en-US" sz="7793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Performance Comparison Graphs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644621" y="9258300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093F93D-E448-CCC0-3FE2-9CD3CCB45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88" y="1745288"/>
            <a:ext cx="8077900" cy="40359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FDCFDC-D2D6-215D-2A00-C3ADD2997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6914" y="1751399"/>
            <a:ext cx="8085160" cy="40425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A062B99-F1C4-4501-E189-9999BC151C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317" y="6046599"/>
            <a:ext cx="8092771" cy="40419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86A45A-DF1F-40BC-2E3C-EFCCBCF7D4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1755" y="6046010"/>
            <a:ext cx="8092772" cy="40425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14AC0-46B6-A359-6DEE-B5147956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1AB7908A-AB0C-2755-473B-C19BC612E191}"/>
              </a:ext>
            </a:extLst>
          </p:cNvPr>
          <p:cNvGrpSpPr/>
          <p:nvPr/>
        </p:nvGrpSpPr>
        <p:grpSpPr>
          <a:xfrm>
            <a:off x="9489577" y="-1023733"/>
            <a:ext cx="2357981" cy="2357981"/>
            <a:chOff x="0" y="0"/>
            <a:chExt cx="673100" cy="6731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A8C408F-1197-F418-F510-7F35B9578834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5668BA9-D5AF-D4BF-CD55-819CD25E05DE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8DB12FC7-096E-749A-1C06-0F943399DA48}"/>
              </a:ext>
            </a:extLst>
          </p:cNvPr>
          <p:cNvSpPr/>
          <p:nvPr/>
        </p:nvSpPr>
        <p:spPr>
          <a:xfrm>
            <a:off x="-1825680" y="-942566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9B5BC69-70C5-A977-776C-5DC69FCF2B2B}"/>
              </a:ext>
            </a:extLst>
          </p:cNvPr>
          <p:cNvSpPr txBox="1"/>
          <p:nvPr/>
        </p:nvSpPr>
        <p:spPr>
          <a:xfrm>
            <a:off x="734524" y="571500"/>
            <a:ext cx="12536157" cy="89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6858"/>
              </a:lnSpc>
            </a:pPr>
            <a:r>
              <a:rPr lang="en-US" sz="7793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Real-Time AI Dashboard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F964B21-2C75-A1F5-765E-49006557912E}"/>
              </a:ext>
            </a:extLst>
          </p:cNvPr>
          <p:cNvGrpSpPr/>
          <p:nvPr/>
        </p:nvGrpSpPr>
        <p:grpSpPr>
          <a:xfrm>
            <a:off x="4644621" y="9258300"/>
            <a:ext cx="2357981" cy="2357981"/>
            <a:chOff x="0" y="0"/>
            <a:chExt cx="673100" cy="6731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8236996-264E-BEB0-0819-E77F5483FA09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5E6F50F-9E44-4B85-C0C6-A0C5B2C6FE77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75CAE3E-FA57-F3CD-5001-6769F49F6AAB}"/>
              </a:ext>
            </a:extLst>
          </p:cNvPr>
          <p:cNvSpPr txBox="1"/>
          <p:nvPr/>
        </p:nvSpPr>
        <p:spPr>
          <a:xfrm>
            <a:off x="1109233" y="1973640"/>
            <a:ext cx="82275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IN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Streamlit</a:t>
            </a: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 dashboard provides a graphical interface for real-time processor monitoring and AI decisions.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604B3F-DD3D-5E47-3D68-B0B91ED6E490}"/>
              </a:ext>
            </a:extLst>
          </p:cNvPr>
          <p:cNvSpPr txBox="1"/>
          <p:nvPr/>
        </p:nvSpPr>
        <p:spPr>
          <a:xfrm>
            <a:off x="11049000" y="1860002"/>
            <a:ext cx="8227521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Dashboard Features: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Real-time CPU monitoring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Memory monitoring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CPU frequency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Process count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Disk usage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ML workload classification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AI confidence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AI mode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AI action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Workload probability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Resource-intensive processes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Real-time performance graph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AI decision logs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Optimization logs.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17E0ED-0305-8CEF-9F61-CCE080F59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90" y="3923630"/>
            <a:ext cx="10194330" cy="564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47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67001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81000" y="400136"/>
            <a:ext cx="17145000" cy="924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089"/>
              </a:lnSpc>
            </a:pPr>
            <a:r>
              <a:rPr lang="en-US" sz="8056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Decision and Optimization Logs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3798" y="1821370"/>
            <a:ext cx="11658600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7557" lvl="1">
              <a:lnSpc>
                <a:spcPts val="3118"/>
              </a:lnSpc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records AI decisions continuously for analysis and evaluation.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684880" y="7426764"/>
            <a:ext cx="2357981" cy="2357981"/>
            <a:chOff x="0" y="0"/>
            <a:chExt cx="673100" cy="673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16985" y="9258300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F69EC062-706C-A9F8-1D70-BC16EC1FB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8705" y="2718923"/>
            <a:ext cx="6382950" cy="6103645"/>
          </a:xfrm>
          <a:prstGeom prst="rect">
            <a:avLst/>
          </a:prstGeom>
        </p:spPr>
      </p:pic>
      <p:sp>
        <p:nvSpPr>
          <p:cNvPr id="17" name="TextBox 4">
            <a:extLst>
              <a:ext uri="{FF2B5EF4-FFF2-40B4-BE49-F238E27FC236}">
                <a16:creationId xmlns:a16="http://schemas.microsoft.com/office/drawing/2014/main" id="{23ADCA31-0E32-984E-9087-B06FEA8669D4}"/>
              </a:ext>
            </a:extLst>
          </p:cNvPr>
          <p:cNvSpPr txBox="1"/>
          <p:nvPr/>
        </p:nvSpPr>
        <p:spPr>
          <a:xfrm>
            <a:off x="693798" y="3183288"/>
            <a:ext cx="4334256" cy="5168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7557" lvl="1">
              <a:lnSpc>
                <a:spcPts val="3118"/>
              </a:lnSpc>
            </a:pPr>
            <a:r>
              <a:rPr lang="en-US" sz="2941" b="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Recorded Information:</a:t>
            </a:r>
          </a:p>
          <a:p>
            <a:pPr marL="317557" lvl="1">
              <a:lnSpc>
                <a:spcPts val="3118"/>
              </a:lnSpc>
            </a:pPr>
            <a:endParaRPr lang="en-US" sz="2941" b="1" dirty="0">
              <a:solidFill>
                <a:srgbClr val="34322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Timestamp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Usage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Usage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Frequency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Count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Usage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Workload Prediction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Mode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Action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C4CA6B53-C218-F145-C799-7556C1351C05}"/>
              </a:ext>
            </a:extLst>
          </p:cNvPr>
          <p:cNvSpPr txBox="1"/>
          <p:nvPr/>
        </p:nvSpPr>
        <p:spPr>
          <a:xfrm>
            <a:off x="5154107" y="3073918"/>
            <a:ext cx="6158545" cy="5168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7557" lvl="1">
              <a:lnSpc>
                <a:spcPts val="3118"/>
              </a:lnSpc>
            </a:pPr>
            <a:r>
              <a:rPr lang="en-US" sz="2941" b="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AI Results </a:t>
            </a:r>
          </a:p>
          <a:p>
            <a:pPr marL="317557" lvl="1">
              <a:lnSpc>
                <a:spcPts val="3118"/>
              </a:lnSpc>
            </a:pPr>
            <a:r>
              <a:rPr lang="en-US" sz="2941" b="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collected AI decision log:</a:t>
            </a:r>
          </a:p>
          <a:p>
            <a:pPr marL="317557" lvl="1">
              <a:lnSpc>
                <a:spcPts val="3118"/>
              </a:lnSpc>
            </a:pPr>
            <a:endParaRPr lang="en-US" sz="2941" dirty="0">
              <a:solidFill>
                <a:srgbClr val="34322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7557" lvl="1">
              <a:lnSpc>
                <a:spcPts val="3118"/>
              </a:lnSpc>
            </a:pPr>
            <a:r>
              <a:rPr lang="en-US" sz="2941" b="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224 recorded samples</a:t>
            </a:r>
          </a:p>
          <a:p>
            <a:pPr marL="317557" lvl="1">
              <a:lnSpc>
                <a:spcPts val="3118"/>
              </a:lnSpc>
            </a:pPr>
            <a:endParaRPr lang="en-US" sz="2941" dirty="0">
              <a:solidFill>
                <a:srgbClr val="34322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7557" lvl="1">
              <a:lnSpc>
                <a:spcPts val="3118"/>
              </a:lnSpc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Workload classifications: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→ 102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→ 43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endParaRPr lang="en-US" sz="2941" dirty="0">
              <a:solidFill>
                <a:srgbClr val="34322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7557" lvl="1">
              <a:lnSpc>
                <a:spcPts val="3118"/>
              </a:lnSpc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actions included: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→ 100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→ 37</a:t>
            </a:r>
          </a:p>
          <a:p>
            <a:pPr marL="774757" lvl="1" indent="-457200">
              <a:lnSpc>
                <a:spcPts val="3118"/>
              </a:lnSpc>
              <a:buFont typeface="Arial" panose="020B0604020202020204" pitchFamily="34" charset="0"/>
              <a:buChar char="•"/>
            </a:pPr>
            <a:r>
              <a:rPr lang="en-US" sz="294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MEMORYALERT →8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95A158-1169-206E-E3BD-8EA4AC1E3219}"/>
              </a:ext>
            </a:extLst>
          </p:cNvPr>
          <p:cNvSpPr/>
          <p:nvPr/>
        </p:nvSpPr>
        <p:spPr>
          <a:xfrm>
            <a:off x="5028054" y="2718923"/>
            <a:ext cx="45719" cy="6487449"/>
          </a:xfrm>
          <a:prstGeom prst="rect">
            <a:avLst/>
          </a:prstGeom>
          <a:solidFill>
            <a:srgbClr val="D9BF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D9BFA3"/>
              </a:solidFill>
              <a:highlight>
                <a:srgbClr val="FFFF00"/>
              </a:highligh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E549F8-7F84-4CE9-B69E-E1A14C57F76B}"/>
              </a:ext>
            </a:extLst>
          </p:cNvPr>
          <p:cNvSpPr/>
          <p:nvPr/>
        </p:nvSpPr>
        <p:spPr>
          <a:xfrm>
            <a:off x="11276343" y="2718922"/>
            <a:ext cx="45719" cy="6487449"/>
          </a:xfrm>
          <a:prstGeom prst="rect">
            <a:avLst/>
          </a:prstGeom>
          <a:solidFill>
            <a:srgbClr val="D9BF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D9BFA3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67894" y="-490689"/>
            <a:ext cx="21223785" cy="11268378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7593" y="693271"/>
            <a:ext cx="112709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/>
            <a:r>
              <a:rPr lang="en-IN" sz="5400" b="1" dirty="0">
                <a:latin typeface="Cambria" panose="02040503050406030204" pitchFamily="18" charset="0"/>
                <a:ea typeface="Cambria" panose="02040503050406030204" pitchFamily="18" charset="0"/>
              </a:rPr>
              <a:t>Results and Conclusion</a:t>
            </a:r>
            <a:endParaRPr lang="en-US" sz="5400" b="1" dirty="0">
              <a:solidFill>
                <a:srgbClr val="34322B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9634" y="3206599"/>
            <a:ext cx="12226632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738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processor dataset successfully collected.</a:t>
            </a:r>
          </a:p>
          <a:p>
            <a:pPr marL="80738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420 real samples</a:t>
            </a: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prepared for machine learning.</a:t>
            </a:r>
          </a:p>
          <a:p>
            <a:pPr marL="80738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achieved </a:t>
            </a:r>
            <a:r>
              <a:rPr lang="en-US" sz="2400" b="1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98.81% classification accuracy</a:t>
            </a: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80738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engine successfully classified processor workload.</a:t>
            </a:r>
          </a:p>
          <a:p>
            <a:pPr marL="80738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generated workload-dependent optimization recommendations.</a:t>
            </a:r>
          </a:p>
          <a:p>
            <a:pPr marL="80738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</a:t>
            </a:r>
            <a:r>
              <a:rPr lang="en-US" sz="2400" dirty="0" err="1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dashboard successfully integrated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109009" y="616734"/>
            <a:ext cx="2357981" cy="2357981"/>
            <a:chOff x="0" y="0"/>
            <a:chExt cx="673100" cy="673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9768" y="-1178991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0252507F-C1E9-8498-AC88-F4A1300A1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566" y="2212570"/>
            <a:ext cx="8686800" cy="2562356"/>
          </a:xfrm>
          <a:prstGeom prst="rect">
            <a:avLst/>
          </a:prstGeom>
        </p:spPr>
      </p:pic>
      <p:sp>
        <p:nvSpPr>
          <p:cNvPr id="16" name="TextBox 4">
            <a:extLst>
              <a:ext uri="{FF2B5EF4-FFF2-40B4-BE49-F238E27FC236}">
                <a16:creationId xmlns:a16="http://schemas.microsoft.com/office/drawing/2014/main" id="{DEC5F875-F45A-CE86-3EA2-67C6DEA2AA4E}"/>
              </a:ext>
            </a:extLst>
          </p:cNvPr>
          <p:cNvSpPr txBox="1"/>
          <p:nvPr/>
        </p:nvSpPr>
        <p:spPr>
          <a:xfrm>
            <a:off x="12968622" y="6182179"/>
            <a:ext cx="4194417" cy="3015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0180" lvl="1">
              <a:lnSpc>
                <a:spcPts val="3438"/>
              </a:lnSpc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Improvement</a:t>
            </a:r>
          </a:p>
          <a:p>
            <a:pPr marL="350180" lvl="1">
              <a:lnSpc>
                <a:spcPts val="3438"/>
              </a:lnSpc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CPU: </a:t>
            </a:r>
          </a:p>
          <a:p>
            <a:pPr marL="350180" lvl="1">
              <a:lnSpc>
                <a:spcPts val="3438"/>
              </a:lnSpc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2.64% → 2.59%</a:t>
            </a:r>
          </a:p>
          <a:p>
            <a:pPr marL="350180" lvl="1">
              <a:lnSpc>
                <a:spcPts val="3438"/>
              </a:lnSpc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CPU:</a:t>
            </a:r>
          </a:p>
          <a:p>
            <a:pPr marL="350180" lvl="1">
              <a:lnSpc>
                <a:spcPts val="3438"/>
              </a:lnSpc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8.60% → 8.10%</a:t>
            </a:r>
          </a:p>
          <a:p>
            <a:pPr marL="350180" lvl="1">
              <a:lnSpc>
                <a:spcPts val="3438"/>
              </a:lnSpc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Memory:</a:t>
            </a:r>
          </a:p>
          <a:p>
            <a:pPr marL="350180" lvl="1">
              <a:lnSpc>
                <a:spcPts val="3438"/>
              </a:lnSpc>
            </a:pPr>
            <a:r>
              <a:rPr lang="en-US" sz="2400" dirty="0">
                <a:solidFill>
                  <a:srgbClr val="3432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73.35% → 71.09%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F4084C-45F6-B48E-C454-0BF7199E15C1}"/>
              </a:ext>
            </a:extLst>
          </p:cNvPr>
          <p:cNvSpPr/>
          <p:nvPr/>
        </p:nvSpPr>
        <p:spPr>
          <a:xfrm flipH="1">
            <a:off x="9143999" y="1679526"/>
            <a:ext cx="46961" cy="3844974"/>
          </a:xfrm>
          <a:prstGeom prst="rect">
            <a:avLst/>
          </a:prstGeom>
          <a:solidFill>
            <a:srgbClr val="D9BF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D9BFA3"/>
              </a:solidFill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0F2A5F-DDFB-418D-8E68-10CEB83377D9}"/>
              </a:ext>
            </a:extLst>
          </p:cNvPr>
          <p:cNvSpPr txBox="1"/>
          <p:nvPr/>
        </p:nvSpPr>
        <p:spPr>
          <a:xfrm>
            <a:off x="685800" y="5809211"/>
            <a:ext cx="1012912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The proposed 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AI-Assisted Processor Performance Optimization System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combines real-time system monitoring, machine learning, and an AI decision engine to intelligently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analyze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processor workloads.</a:t>
            </a: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The experimental results demonstrate reduced CPU and memory utilization during the AI-assisted monitoring phase while maintaining stable CPU frequency.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The system provides an intelligent foundation for adaptive, workload-aware processor performance optimization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26B36B-79C1-1ED3-1B88-488BE1E6A18C}"/>
              </a:ext>
            </a:extLst>
          </p:cNvPr>
          <p:cNvSpPr txBox="1"/>
          <p:nvPr/>
        </p:nvSpPr>
        <p:spPr>
          <a:xfrm>
            <a:off x="685800" y="2404319"/>
            <a:ext cx="426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lang="en-IN" sz="4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0942DB-8C7D-78DC-0C71-EA24C6ADC34A}"/>
              </a:ext>
            </a:extLst>
          </p:cNvPr>
          <p:cNvSpPr/>
          <p:nvPr/>
        </p:nvSpPr>
        <p:spPr>
          <a:xfrm flipH="1">
            <a:off x="11994468" y="5161547"/>
            <a:ext cx="46960" cy="4907429"/>
          </a:xfrm>
          <a:prstGeom prst="rect">
            <a:avLst/>
          </a:prstGeom>
          <a:solidFill>
            <a:srgbClr val="D9BF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D9BFA3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96516" y="962878"/>
            <a:ext cx="11270900" cy="92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22"/>
              </a:lnSpc>
            </a:pPr>
            <a:r>
              <a:rPr lang="en-US" sz="8093" b="1" dirty="0">
                <a:solidFill>
                  <a:srgbClr val="3432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2599068"/>
            <a:ext cx="163068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[1]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 D. Brooks et al., “Dynamic voltage and frequency scaling techniques for processor power management,” 2018.</a:t>
            </a:r>
          </a:p>
          <a:p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[2]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 Y. Wang et al., “Machine learning approaches for CPU performance optimization,” 2019.</a:t>
            </a:r>
          </a:p>
          <a:p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[3]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 J. Chen et al., “AI-based resource management for computing systems,” 2020.</a:t>
            </a:r>
          </a:p>
          <a:p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[4]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 A. Singh et al., “Machine learning based workload prediction for system optimization,” 2021.</a:t>
            </a:r>
          </a:p>
          <a:p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[5]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 S. Mittal, “Machine learning techniques for energy-efficient computing,” 2022.</a:t>
            </a:r>
          </a:p>
          <a:p>
            <a:r>
              <a:rPr lang="en-IN" sz="3600" b="1" dirty="0">
                <a:latin typeface="Cambria" panose="02040503050406030204" pitchFamily="18" charset="0"/>
                <a:ea typeface="Cambria" panose="02040503050406030204" pitchFamily="18" charset="0"/>
              </a:rPr>
              <a:t>[6]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 R. Kumar et al., “AI-assisted processor performance optimization and workload management,” 2023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109009" y="616734"/>
            <a:ext cx="2357981" cy="2357981"/>
            <a:chOff x="0" y="0"/>
            <a:chExt cx="673100" cy="673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9768" y="-1178991"/>
            <a:ext cx="2357981" cy="2357981"/>
            <a:chOff x="0" y="0"/>
            <a:chExt cx="673100" cy="673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109009" y="5143500"/>
            <a:ext cx="2357981" cy="2357981"/>
            <a:chOff x="0" y="0"/>
            <a:chExt cx="673100" cy="673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329281" y="5359562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06768" y="2686457"/>
            <a:ext cx="14274463" cy="20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628"/>
              </a:lnSpc>
            </a:pPr>
            <a:r>
              <a:rPr lang="en-US" sz="15487" b="1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THANK YOU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626182" y="0"/>
            <a:ext cx="2417547" cy="2482776"/>
          </a:xfrm>
          <a:custGeom>
            <a:avLst/>
            <a:gdLst/>
            <a:ahLst/>
            <a:cxnLst/>
            <a:rect l="l" t="t" r="r" b="b"/>
            <a:pathLst>
              <a:path w="2417547" h="2482776">
                <a:moveTo>
                  <a:pt x="0" y="0"/>
                </a:moveTo>
                <a:lnTo>
                  <a:pt x="2417547" y="0"/>
                </a:lnTo>
                <a:lnTo>
                  <a:pt x="2417547" y="2482776"/>
                </a:lnTo>
                <a:lnTo>
                  <a:pt x="0" y="2482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67175" y="4716026"/>
            <a:ext cx="5152209" cy="5228257"/>
          </a:xfrm>
          <a:custGeom>
            <a:avLst/>
            <a:gdLst/>
            <a:ahLst/>
            <a:cxnLst/>
            <a:rect l="l" t="t" r="r" b="b"/>
            <a:pathLst>
              <a:path w="5152209" h="5228257">
                <a:moveTo>
                  <a:pt x="0" y="0"/>
                </a:moveTo>
                <a:lnTo>
                  <a:pt x="5152210" y="0"/>
                </a:lnTo>
                <a:lnTo>
                  <a:pt x="5152210" y="5228257"/>
                </a:lnTo>
                <a:lnTo>
                  <a:pt x="0" y="5228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002119" y="6322491"/>
            <a:ext cx="3696393" cy="3342879"/>
          </a:xfrm>
          <a:custGeom>
            <a:avLst/>
            <a:gdLst/>
            <a:ahLst/>
            <a:cxnLst/>
            <a:rect l="l" t="t" r="r" b="b"/>
            <a:pathLst>
              <a:path w="3696393" h="3342879">
                <a:moveTo>
                  <a:pt x="0" y="0"/>
                </a:moveTo>
                <a:lnTo>
                  <a:pt x="3696393" y="0"/>
                </a:lnTo>
                <a:lnTo>
                  <a:pt x="3696393" y="3342878"/>
                </a:lnTo>
                <a:lnTo>
                  <a:pt x="0" y="3342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1434</Words>
  <Application>Microsoft Office PowerPoint</Application>
  <PresentationFormat>Custom</PresentationFormat>
  <Paragraphs>337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Calmius Sans High Bold</vt:lpstr>
      <vt:lpstr>Arial</vt:lpstr>
      <vt:lpstr>Times New Roman</vt:lpstr>
      <vt:lpstr>Times New Roman Bold</vt:lpstr>
      <vt:lpstr>Wingdings</vt:lpstr>
      <vt:lpstr>Calibri</vt:lpstr>
      <vt:lpstr>Aptos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Processor Performance Optimization</dc:title>
  <dc:creator>MOGO</dc:creator>
  <cp:lastModifiedBy>Mohan Ram</cp:lastModifiedBy>
  <cp:revision>12</cp:revision>
  <dcterms:created xsi:type="dcterms:W3CDTF">2006-08-16T00:00:00Z</dcterms:created>
  <dcterms:modified xsi:type="dcterms:W3CDTF">2026-09-01T04:54:23Z</dcterms:modified>
  <dc:identifier>DAHRA01sRis</dc:identifier>
</cp:coreProperties>
</file>